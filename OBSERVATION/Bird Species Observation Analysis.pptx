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Inter Light"/>
      <p:regular r:id="rId22"/>
      <p:bold r:id="rId23"/>
      <p:italic r:id="rId24"/>
      <p:boldItalic r:id="rId25"/>
    </p:embeddedFont>
    <p:embeddedFont>
      <p:font typeface="Merriweather Light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Merriweather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27E04F-6E05-4562-8190-C10914E99531}">
  <a:tblStyle styleId="{BC27E04F-6E05-4562-8190-C10914E995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InterLight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Light-italic.fntdata"/><Relationship Id="rId23" Type="http://schemas.openxmlformats.org/officeDocument/2006/relationships/font" Target="fonts/Inter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Light-regular.fntdata"/><Relationship Id="rId25" Type="http://schemas.openxmlformats.org/officeDocument/2006/relationships/font" Target="fonts/InterLight-boldItalic.fntdata"/><Relationship Id="rId28" Type="http://schemas.openxmlformats.org/officeDocument/2006/relationships/font" Target="fonts/MerriweatherLight-italic.fntdata"/><Relationship Id="rId27" Type="http://schemas.openxmlformats.org/officeDocument/2006/relationships/font" Target="fonts/Merriweather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5.xml"/><Relationship Id="rId33" Type="http://schemas.openxmlformats.org/officeDocument/2006/relationships/font" Target="fonts/Inter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-italic.fntdata"/><Relationship Id="rId13" Type="http://schemas.openxmlformats.org/officeDocument/2006/relationships/slide" Target="slides/slide7.xml"/><Relationship Id="rId35" Type="http://schemas.openxmlformats.org/officeDocument/2006/relationships/font" Target="fonts/Merriweather-bold.fntdata"/><Relationship Id="rId12" Type="http://schemas.openxmlformats.org/officeDocument/2006/relationships/slide" Target="slides/slide6.xml"/><Relationship Id="rId34" Type="http://schemas.openxmlformats.org/officeDocument/2006/relationships/font" Target="fonts/Merriweather-regular.fntdata"/><Relationship Id="rId15" Type="http://schemas.openxmlformats.org/officeDocument/2006/relationships/slide" Target="slides/slide9.xml"/><Relationship Id="rId37" Type="http://schemas.openxmlformats.org/officeDocument/2006/relationships/font" Target="fonts/Merriweather-boldItalic.fntdata"/><Relationship Id="rId14" Type="http://schemas.openxmlformats.org/officeDocument/2006/relationships/slide" Target="slides/slide8.xml"/><Relationship Id="rId36" Type="http://schemas.openxmlformats.org/officeDocument/2006/relationships/font" Target="fonts/Merriweather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26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24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Relationship Id="rId7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1725959"/>
            <a:ext cx="90011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Bird Species Observation Analysis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715000" y="4034730"/>
            <a:ext cx="7620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775745"/>
            <a:ext cx="857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Tools: Python • SQL • Power BI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762000"/>
            <a:ext cx="53006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Executive Summary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1619250"/>
            <a:ext cx="5048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report synthesizes the findings from the Bird Species Observation Analysis project, which rigorously evaluates avian biodiversity across forest and grassland ecosystems.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62000" y="3076575"/>
            <a:ext cx="5048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Utilizing a robust dataset of over 14,264 observations, the project employs a full-stack data pipeline—from Python-based preprocessing and SQL warehousing to interactive Power BI visualization.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453390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 provide actionable, data-driven insights for wildlife conservation and sustainable land management.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18394"/>
            <a:ext cx="2547937" cy="3878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1918394"/>
            <a:ext cx="2547937" cy="3878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918394"/>
            <a:ext cx="2547937" cy="3878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1918394"/>
            <a:ext cx="2547937" cy="387846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1164431" y="2499419"/>
            <a:ext cx="1362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14k+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17827" y="3204269"/>
            <a:ext cx="2255281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Total Observations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71525" y="3975794"/>
            <a:ext cx="2147887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Comprehensive data points collected across designated ecological zones.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3907767" y="2434775"/>
            <a:ext cx="168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126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3709035" y="3204269"/>
            <a:ext cx="194024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Unique Species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605212" y="3661469"/>
            <a:ext cx="2147887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Distinct bird species tracked, demonstrating profound regional biodiversity.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917783" y="2434775"/>
            <a:ext cx="119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25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522720" y="3204269"/>
            <a:ext cx="19802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At-Risk Species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438900" y="3661469"/>
            <a:ext cx="2147887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Vulnerable species identified requiring targeted conservation efforts.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218828" y="2434775"/>
            <a:ext cx="225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7 AM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06426" y="3204269"/>
            <a:ext cx="16802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Peak Activity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272587" y="3661469"/>
            <a:ext cx="214788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optimal temporal window for maximizing observation frequency.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High-Level Metrics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1781175" y="1323975"/>
            <a:ext cx="862965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4532D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Raw observational data is often fragmented and lacks environmental context. This project builds a structured analytical framework to quantify how habitat types and climatic factors influence bird density and diversity, enabling data-driven conservation strategies.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529150" y="5680825"/>
            <a:ext cx="313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CORE PROBLEM ADDRESSED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209675" y="1704975"/>
            <a:ext cx="5334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BBF7D0"/>
                </a:solidFill>
                <a:latin typeface="Inter Light"/>
                <a:ea typeface="Inter Light"/>
                <a:cs typeface="Inter Light"/>
                <a:sym typeface="Inter Light"/>
              </a:rPr>
              <a:t>"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0448925" y="5019675"/>
            <a:ext cx="5334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BBF7D0"/>
                </a:solidFill>
                <a:latin typeface="Inter Light"/>
                <a:ea typeface="Inter Light"/>
                <a:cs typeface="Inter Light"/>
                <a:sym typeface="Inter Light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5619750" y="2617589"/>
            <a:ext cx="952500" cy="4762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2535555" y="2950964"/>
            <a:ext cx="712089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Key Findings &amp; Insights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2762250" y="3855839"/>
            <a:ext cx="6667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Analyzing Habitat Diversity, Temporal Patterns, and Conservation Priorities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0732"/>
            <a:ext cx="3492549" cy="4573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570732"/>
            <a:ext cx="3492549" cy="4573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570732"/>
            <a:ext cx="3492549" cy="4573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1580257"/>
            <a:ext cx="347349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744218" y="4199632"/>
            <a:ext cx="31471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Grassland Dominance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19150" y="4656832"/>
            <a:ext cx="29972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MONO (Grassland) unit emerged as the most diverse ecosystem, successfully hosting an impressive 93 unique species.</a:t>
            </a:r>
            <a:endParaRPr/>
          </a:p>
        </p:txBody>
      </p:sp>
      <p:pic>
        <p:nvPicPr>
          <p:cNvPr descr="image.png" id="148" name="Google Shape;14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9324" y="1580257"/>
            <a:ext cx="347349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4522518" y="4199632"/>
            <a:ext cx="31471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Cardinal Prevalence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4597449" y="4656832"/>
            <a:ext cx="29972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Northern Cardinal remains the most frequently observed species, indicating exceptionally high adaptability across habitats.</a:t>
            </a:r>
            <a:endParaRPr/>
          </a:p>
        </p:txBody>
      </p:sp>
      <p:pic>
        <p:nvPicPr>
          <p:cNvPr descr="image.png" id="151" name="Google Shape;15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37624" y="1580257"/>
            <a:ext cx="347349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8300817" y="4199632"/>
            <a:ext cx="31471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Flyover Trends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375749" y="4656832"/>
            <a:ext cx="29972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Approximately 8.75% of observations were flyovers, crucial for distinguishing resident populations from migratory transit.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Habitat Diversity &amp; Preference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1212"/>
            <a:ext cx="3492549" cy="3552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81212"/>
            <a:ext cx="3492549" cy="3552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81212"/>
            <a:ext cx="3492549" cy="35526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1117550" y="3271837"/>
            <a:ext cx="2400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The Morning Peak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66775" y="3729037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Avian activity is highest at 07:00, coinciding with the "dawn chorus." Data suggests a sharp decline in observable activity immediately after 10:00 AM.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115877" y="3271837"/>
            <a:ext cx="19602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Seasonal Surge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4645074" y="3729037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June is the peak month for surveys and sightings, which is strongly tied to breeding and nesting cycles occurring in the Spring/Summer transition.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859172" y="3271837"/>
            <a:ext cx="20302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Weather Impact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423374" y="3729037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Most sightings occurred during "Partly Cloudy" conditions with "Light Air" movement, suggesting extreme weather significantly suppresses detection.</a:t>
            </a:r>
            <a:endParaRPr/>
          </a:p>
        </p:txBody>
      </p:sp>
      <p:pic>
        <p:nvPicPr>
          <p:cNvPr descr="image.png" id="169" name="Google Shape;16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5193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5193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251936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Temporal &amp; Environmental Patterns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26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952500" y="1952625"/>
            <a:ext cx="4905375" cy="1175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Watchlist Status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25 species were identified as "At-Risk" based on PIF (Partners in Flight) Watchlist statuses. These species urgently require prioritized habitat protection.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952500" y="3413670"/>
            <a:ext cx="4905375" cy="144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At-Risk Density Zones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strong correlation exists between specific forest plots (e.g., plot ANTI-0036) and the presence of regional stewardship species, marking these as high-value conservation zones.</a:t>
            </a:r>
            <a:endParaRPr/>
          </a:p>
        </p:txBody>
      </p:sp>
      <p:pic>
        <p:nvPicPr>
          <p:cNvPr descr="image.png" id="181" name="Google Shape;18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526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621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42319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Conservation Indicators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8028"/>
            <a:ext cx="11049000" cy="497934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21"/>
          <p:cNvGraphicFramePr/>
          <p:nvPr/>
        </p:nvGraphicFramePr>
        <p:xfrm>
          <a:off x="581025" y="1377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{BC27E04F-6E05-4562-8190-C10914E99531}</a:tableStyleId>
              </a:tblPr>
              <a:tblGrid>
                <a:gridCol w="2757475"/>
                <a:gridCol w="4411850"/>
                <a:gridCol w="3860600"/>
              </a:tblGrid>
              <a:tr h="99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4532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Challenge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4532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Technical Solution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4532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Outcome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99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Inconsistency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 (Pandas/NumPy) preprocessing utilized for missing values and robust outlier detection.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 clean, 100% validated dataset ready for immediate modeling.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Siloed Observations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Implementation of a Star Schema SQL Warehouse (dim_species, dim_plot, fact_observations).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Enabled complex Year-over-Year growth and rapid running total queries.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Reporting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Power BI Interactive Dashboard utilizing DAX measures specifically for "At-Risk" counts.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Real-time filtering capabilities by habitat, season, and species status.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Complex 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Utilization of SQL CTEs for extracting temporal trends and indexing species diversity.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Decoupled business logic from the UI layer, resulting in significantly faster report rendering.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21"/>
          <p:cNvSpPr/>
          <p:nvPr/>
        </p:nvSpPr>
        <p:spPr>
          <a:xfrm>
            <a:off x="581025" y="2028080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3338512" y="2028080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7750373" y="2028080"/>
            <a:ext cx="3860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81025" y="2967186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3338512" y="2967186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7750373" y="2967186"/>
            <a:ext cx="3860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81025" y="418058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338512" y="4180582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7750373" y="4180582"/>
            <a:ext cx="3860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81025" y="511968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338512" y="5119687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7750373" y="5119687"/>
            <a:ext cx="3860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510778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Operational Impact &amp; Pipeline Architecture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1809750" y="2011709"/>
            <a:ext cx="9048750" cy="901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Focus on 'MONO' Units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Given the exceedingly high species richness discovered in Grasslands, conservation funding should prioritize these specific areas to protect the largest variety of species within a single administrative unit.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1809750" y="3150840"/>
            <a:ext cx="9048750" cy="1175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Standardize Survey Windows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 drastically optimize resource allocation, field observations should be concentrated strictly between 06:00 and 09:00, as empirical data demonstrates a significant "observation-per-hour" drop-off immediately thereafter.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1809750" y="4564260"/>
            <a:ext cx="9048750" cy="901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Expand 'At-Risk' Monitoring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Phase 2 of the project should introduce a formal "Species Stability Index" designed to track whether the 25 identified at-risk species are increasing or decreasing in sighting frequency year-over-year.</a:t>
            </a:r>
            <a:endParaRPr/>
          </a:p>
        </p:txBody>
      </p:sp>
      <p:pic>
        <p:nvPicPr>
          <p:cNvPr descr="image.png" id="213" name="Google Shape;2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02599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16512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578548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Recommendations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295275" y="210309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YOU!!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571500" y="32556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Thank you for exploring the Bird Species Observation Analysis.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